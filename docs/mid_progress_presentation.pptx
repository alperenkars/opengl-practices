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5000"/>
            </a:avLst>
          </a:prstGeom>
          <a:solidFill>
            <a:srgbClr val="165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Virtual Koç University Campus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BBBB"/>
                </a:solidFill>
                <a:latin typeface="Calibri"/>
              </a:defRPr>
            </a:pPr>
            <a:r>
              <a:t>Mid-Project Progress Presentation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3657600"/>
            <a:ext cx="3017520" cy="0"/>
          </a:xfrm>
          <a:prstGeom prst="line">
            <a:avLst/>
          </a:prstGeom>
          <a:ln w="25400">
            <a:solidFill>
              <a:srgbClr val="1654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Alperen Kars  &amp;  Uğur Öner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COMP 410 — Computer Graphics  |  Spring 2026  |  Yücel Yemez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784848"/>
            <a:ext cx="12191695" cy="73152"/>
          </a:xfrm>
          <a:prstGeom prst="roundRect">
            <a:avLst>
              <a:gd name="adj" fmla="val 5000"/>
            </a:avLst>
          </a:prstGeom>
          <a:solidFill>
            <a:srgbClr val="165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165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Motivation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828800" cy="0"/>
          </a:xfrm>
          <a:prstGeom prst="line">
            <a:avLst/>
          </a:prstGeom>
          <a:ln w="25400">
            <a:solidFill>
              <a:srgbClr val="1654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371600"/>
            <a:ext cx="5029200" cy="47548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BBBBBB"/>
                </a:solidFill>
              </a:defRPr>
            </a:pPr>
            <a:r>
              <a:t>[ Koç University aerial photo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29200" cy="1280160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547E"/>
                </a:solidFill>
                <a:latin typeface="Calibri"/>
              </a:defRPr>
            </a:pPr>
            <a:r>
              <a:t>🏗  Interactive 3D Exploration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Navigate a real-scale campus model</a:t>
            </a:r>
            <a:br/>
            <a:r>
              <a:t>in first-person 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5029200" cy="1280160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547E"/>
                </a:solidFill>
                <a:latin typeface="Calibri"/>
              </a:defRPr>
            </a:pPr>
            <a:r>
              <a:t>📍  Real Geographic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Building footprints sourced from</a:t>
            </a:r>
            <a:br/>
            <a:r>
              <a:t>OpenStreetMap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480560"/>
            <a:ext cx="5029200" cy="1280160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617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6547E"/>
                </a:solidFill>
                <a:latin typeface="Calibri"/>
              </a:defRPr>
            </a:pPr>
            <a:r>
              <a:t>💡  Learn Core Graphics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029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Shaders, lighting, textures, camera—</a:t>
            </a:r>
            <a:br/>
            <a:r>
              <a:t>built from scratch in OpenGL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0" y="6803136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165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165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Technical Approach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2743200" cy="0"/>
          </a:xfrm>
          <a:prstGeom prst="line">
            <a:avLst/>
          </a:prstGeom>
          <a:ln w="25400">
            <a:solidFill>
              <a:srgbClr val="1654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6459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6547E"/>
                </a:solidFill>
                <a:latin typeface="Calibri"/>
              </a:defRPr>
            </a:pPr>
            <a:r>
              <a:t>OSM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Building footprints</a:t>
            </a:r>
            <a:br/>
            <a:r>
              <a:t>&amp; positions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240280"/>
            <a:ext cx="45987004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6547E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6459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6547E"/>
                </a:solidFill>
                <a:latin typeface="Calibri"/>
              </a:defRPr>
            </a:pPr>
            <a:r>
              <a:t>C++ / OpenGL 4.1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Core rendering</a:t>
            </a:r>
            <a:br/>
            <a:r>
              <a:t>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240280"/>
            <a:ext cx="45987004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6547E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16459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6547E"/>
                </a:solidFill>
                <a:latin typeface="Calibri"/>
              </a:defRPr>
            </a:pPr>
            <a:r>
              <a:t>GLSL 410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Vertex &amp; fragment</a:t>
            </a:r>
            <a:br/>
            <a:r>
              <a:t>shaders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240280"/>
            <a:ext cx="45987004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6547E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80" y="16459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8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6547E"/>
                </a:solidFill>
                <a:latin typeface="Calibri"/>
              </a:defRPr>
            </a:pPr>
            <a:r>
              <a:t>Phong Shading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Ambient + diffuse</a:t>
            </a:r>
            <a:br/>
            <a:r>
              <a:t>+ specular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2240280"/>
            <a:ext cx="45987004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6547E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1645920"/>
            <a:ext cx="1828800" cy="1463040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6547E"/>
                </a:solidFill>
                <a:latin typeface="Calibri"/>
              </a:defRPr>
            </a:pPr>
            <a:r>
              <a:t>First-Person</a:t>
            </a:r>
            <a:br/>
            <a:r>
              <a:t>Camera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22860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Calibri"/>
              </a:defRPr>
            </a:pPr>
            <a:r>
              <a:t>WASD + mouse</a:t>
            </a:r>
            <a:br/>
            <a:r>
              <a:t>navigation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3840480"/>
            <a:ext cx="10698480" cy="0"/>
          </a:xfrm>
          <a:prstGeom prst="line">
            <a:avLst/>
          </a:prstGeom>
          <a:ln w="1270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4114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547E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54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Buildings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114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547E"/>
                </a:solidFill>
                <a:latin typeface="Calibri"/>
              </a:defRPr>
            </a:pPr>
            <a:r>
              <a:t>410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754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GLSL 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4114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547E"/>
                </a:solidFill>
                <a:latin typeface="Calibri"/>
              </a:defRPr>
            </a:pPr>
            <a:r>
              <a:t>~430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754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Lines of C++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114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547E"/>
                </a:solidFill>
                <a:latin typeface="Calibri"/>
              </a:defRPr>
            </a:pPr>
            <a:r>
              <a:t>Blinn-Phong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754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Shading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114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6547E"/>
                </a:solidFill>
                <a:latin typeface="Calibri"/>
              </a:defRPr>
            </a:pPr>
            <a:r>
              <a:t>60 FPS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4754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Libraries: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0" y="5257800"/>
            <a:ext cx="1280160" cy="411480"/>
          </a:xfrm>
          <a:prstGeom prst="roundRect">
            <a:avLst>
              <a:gd name="adj" fmla="val 5000"/>
            </a:avLst>
          </a:prstGeom>
          <a:solidFill>
            <a:srgbClr val="165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0" y="5303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GLFW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31920" y="5257800"/>
            <a:ext cx="1280160" cy="411480"/>
          </a:xfrm>
          <a:prstGeom prst="roundRect">
            <a:avLst>
              <a:gd name="adj" fmla="val 5000"/>
            </a:avLst>
          </a:prstGeom>
          <a:solidFill>
            <a:srgbClr val="165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0" y="5303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GLEW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77840" y="5257800"/>
            <a:ext cx="1280160" cy="411480"/>
          </a:xfrm>
          <a:prstGeom prst="roundRect">
            <a:avLst>
              <a:gd name="adj" fmla="val 5000"/>
            </a:avLst>
          </a:prstGeom>
          <a:solidFill>
            <a:srgbClr val="165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0" y="5303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GLM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23760" y="5257800"/>
            <a:ext cx="1280160" cy="411480"/>
          </a:xfrm>
          <a:prstGeom prst="roundRect">
            <a:avLst>
              <a:gd name="adj" fmla="val 5000"/>
            </a:avLst>
          </a:prstGeom>
          <a:solidFill>
            <a:srgbClr val="165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23760" y="5303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stb_image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0" y="6803136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165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165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Current Progress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2468880" cy="0"/>
          </a:xfrm>
          <a:prstGeom prst="line">
            <a:avLst/>
          </a:prstGeom>
          <a:ln w="25400">
            <a:solidFill>
              <a:srgbClr val="1654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37160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BBBBBB"/>
                </a:solidFill>
              </a:defRPr>
            </a:pPr>
            <a:r>
              <a:t>[ Screenshot: campus overview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029200" cy="3200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6974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BBBBBB"/>
                </a:solidFill>
              </a:defRPr>
            </a:pPr>
            <a:r>
              <a:t>[ Screenshot: close-up view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7AE60"/>
                </a:solidFill>
                <a:latin typeface="Calibri"/>
              </a:defRPr>
            </a:pPr>
            <a:r>
              <a:t>✓  12 buildings from real OSM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937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7AE60"/>
                </a:solidFill>
                <a:latin typeface="Calibri"/>
              </a:defRPr>
            </a:pPr>
            <a:r>
              <a:t>✓  First-person WASD + mouse navigation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40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7AE60"/>
                </a:solidFill>
                <a:latin typeface="Calibri"/>
              </a:defRPr>
            </a:pPr>
            <a:r>
              <a:t>✓  Phong shading with directional sunlight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5440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7AE60"/>
                </a:solidFill>
                <a:latin typeface="Calibri"/>
              </a:defRPr>
            </a:pPr>
            <a:r>
              <a:t>✓  Ground plane &amp; sky background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803136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165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165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Roadmap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554480" cy="0"/>
          </a:xfrm>
          <a:prstGeom prst="line">
            <a:avLst/>
          </a:prstGeom>
          <a:ln w="25400">
            <a:solidFill>
              <a:srgbClr val="1654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71600" y="2286000"/>
            <a:ext cx="9418320" cy="0"/>
          </a:xfrm>
          <a:prstGeom prst="line">
            <a:avLst/>
          </a:prstGeom>
          <a:ln w="38100">
            <a:solidFill>
              <a:srgbClr val="1654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234440" y="2148840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Calibri"/>
              </a:defRPr>
            </a:pPr>
            <a:r>
              <a:t>Mar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27AE60"/>
                </a:solidFill>
                <a:latin typeface="Calibri"/>
              </a:defRPr>
            </a:pPr>
            <a:r>
              <a:t>Proposal</a:t>
            </a:r>
            <a:br/>
            <a:r>
              <a:t>Submitted</a:t>
            </a:r>
          </a:p>
        </p:txBody>
      </p:sp>
      <p:sp>
        <p:nvSpPr>
          <p:cNvPr id="9" name="Oval 8"/>
          <p:cNvSpPr/>
          <p:nvPr/>
        </p:nvSpPr>
        <p:spPr>
          <a:xfrm>
            <a:off x="3520440" y="2148840"/>
            <a:ext cx="274320" cy="274320"/>
          </a:xfrm>
          <a:prstGeom prst="ellipse">
            <a:avLst/>
          </a:prstGeom>
          <a:solidFill>
            <a:srgbClr val="165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554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6547E"/>
                </a:solidFill>
                <a:latin typeface="Calibri"/>
              </a:defRPr>
            </a:pPr>
            <a:r>
              <a:t>Apr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606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6547E"/>
                </a:solidFill>
                <a:latin typeface="Calibri"/>
              </a:defRPr>
            </a:pPr>
            <a:r>
              <a:t>Mid Progress</a:t>
            </a:r>
            <a:br/>
            <a:r>
              <a:t>(today)</a:t>
            </a:r>
          </a:p>
        </p:txBody>
      </p:sp>
      <p:sp>
        <p:nvSpPr>
          <p:cNvPr id="12" name="Oval 11"/>
          <p:cNvSpPr/>
          <p:nvPr/>
        </p:nvSpPr>
        <p:spPr>
          <a:xfrm>
            <a:off x="5806440" y="2148840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554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7E22"/>
                </a:solidFill>
                <a:latin typeface="Calibri"/>
              </a:defRPr>
            </a:pPr>
            <a:r>
              <a:t>Late Apr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606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Textures &amp;</a:t>
            </a:r>
            <a:br/>
            <a:r>
              <a:t>Skybox</a:t>
            </a:r>
          </a:p>
        </p:txBody>
      </p:sp>
      <p:sp>
        <p:nvSpPr>
          <p:cNvPr id="15" name="Oval 14"/>
          <p:cNvSpPr/>
          <p:nvPr/>
        </p:nvSpPr>
        <p:spPr>
          <a:xfrm>
            <a:off x="8092440" y="2148840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554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7E22"/>
                </a:solidFill>
                <a:latin typeface="Calibri"/>
              </a:defRPr>
            </a:pPr>
            <a:r>
              <a:t>Mid May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2606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Collision &amp;</a:t>
            </a:r>
            <a:br/>
            <a:r>
              <a:t>Labels</a:t>
            </a:r>
          </a:p>
        </p:txBody>
      </p:sp>
      <p:sp>
        <p:nvSpPr>
          <p:cNvPr id="18" name="Oval 17"/>
          <p:cNvSpPr/>
          <p:nvPr/>
        </p:nvSpPr>
        <p:spPr>
          <a:xfrm>
            <a:off x="10378440" y="2148840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15544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67E22"/>
                </a:solidFill>
                <a:latin typeface="Calibri"/>
              </a:defRPr>
            </a:pPr>
            <a:r>
              <a:t>End May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26060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Final Demo</a:t>
            </a:r>
            <a:br/>
            <a:r>
              <a:t>&amp;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5760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" y="3886200"/>
            <a:ext cx="137160" cy="1371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3794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Texture Mapping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1605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Facade photos on</a:t>
            </a:r>
            <a:br/>
            <a:r>
              <a:t>building walls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65760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80560" y="3886200"/>
            <a:ext cx="137160" cy="1371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3794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Skybox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1605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HDR environment</a:t>
            </a:r>
            <a:br/>
            <a:r>
              <a:t>cubemap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365760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46720" y="3886200"/>
            <a:ext cx="137160" cy="1371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7947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Collision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1605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AABB bounds</a:t>
            </a:r>
            <a:br/>
            <a:r>
              <a:t>per building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02920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4400" y="5257800"/>
            <a:ext cx="137160" cy="1371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51663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Building Labels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532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On-screen text</a:t>
            </a:r>
            <a:br/>
            <a:r>
              <a:t>identifiers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80" y="502920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80560" y="5257800"/>
            <a:ext cx="137160" cy="1371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51663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Improved Geometry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5532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L-shapes, roofs,</a:t>
            </a:r>
            <a:br/>
            <a:r>
              <a:t>detailed footprints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63840" y="502920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046720" y="5257800"/>
            <a:ext cx="137160" cy="1371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51663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Paths &amp; Roads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5532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Walkways between</a:t>
            </a:r>
            <a:br/>
            <a:r>
              <a:t>buildings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0" y="6803136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165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5000"/>
            </a:avLst>
          </a:prstGeom>
          <a:solidFill>
            <a:srgbClr val="165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BB"/>
                </a:solidFill>
                <a:latin typeface="Calibri"/>
              </a:defRPr>
            </a:pPr>
            <a:r>
              <a:t>First-person walkthrough of the campus scene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3931920"/>
            <a:ext cx="3017520" cy="0"/>
          </a:xfrm>
          <a:prstGeom prst="line">
            <a:avLst/>
          </a:prstGeom>
          <a:ln w="25400">
            <a:solidFill>
              <a:srgbClr val="1654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BBBB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Alperen Kars  &amp;  Uğur Öner  |  COMP 410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784848"/>
            <a:ext cx="12191695" cy="73152"/>
          </a:xfrm>
          <a:prstGeom prst="roundRect">
            <a:avLst>
              <a:gd name="adj" fmla="val 5000"/>
            </a:avLst>
          </a:prstGeom>
          <a:solidFill>
            <a:srgbClr val="165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